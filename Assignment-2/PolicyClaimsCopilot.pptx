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37744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023360"/>
            <a:ext cx="5120640" cy="51206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CLAIMS COPILOT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LLM + RAG Assistant for Insurance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and Claims Pre-Check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source-cited answers on coverage, limits, waiting periods and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documentation — plus automated pre-submission claim checks.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257800"/>
            <a:ext cx="2743200" cy="18288"/>
          </a:xfrm>
          <a:prstGeom prst="rect">
            <a:avLst/>
          </a:prstGeom>
          <a:solidFill>
            <a:srgbClr val="3A4A6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440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5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Project — Technical Presentation to Panel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378440" y="5486400"/>
            <a:ext cx="777240" cy="7772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10" name="Image 0" descr="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4978" y="5672938"/>
            <a:ext cx="404165" cy="4041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answers are slow, inconsistent, and hard to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42032" cy="324612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6" name="Image 0" descr="icons/c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24396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3108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resolution times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" y="37490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wait on hold or for callbacks just to learn a waiting period or a sub-limit.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46704" y="1965960"/>
            <a:ext cx="2542032" cy="324612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02736" y="228600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11" name="Image 1" descr="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355" y="24396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108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answers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37490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agents interpret dense policy wording differently, causing rework and complaints.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44768" y="1965960"/>
            <a:ext cx="2542032" cy="324612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16" name="Image 2" descr="icons/filetex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419" y="24396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3108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document lookup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64224" y="37490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flip through long policy PDFs during live calls to verify a single clause.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42832" y="1965960"/>
            <a:ext cx="2542032" cy="324612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98864" y="228600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21" name="Image 3" descr="icons/refresh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2483" y="243961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62288" y="3108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Rejected / re-submitted claims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62288" y="37490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filed without the right documents or against excluded scenarios bounce back and forth.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54864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call-center load, slower claim cycle times, and a lower first-time-right submission rate.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grounded copilot, three audiences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LLM + RAG assistant sits over the policy knowledge base and claim workflows, tuned to the questions each audience actually asks.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97380" y="2377440"/>
            <a:ext cx="822960" cy="82296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7" name="Image 0" descr="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4890" y="257495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83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answers on coverage, exclusions and claim steps — in plain language, in the app or web portal.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1688" y="205740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0428" y="2377440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12" name="Image 1" descr="icons/cha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938" y="257495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83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Agents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36008" y="37947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cited answers during live calls, replacing manual PDF search with a verified assistant.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74736" y="205740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523476" y="2377440"/>
            <a:ext cx="822960" cy="82296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17" name="Image 2" descr="icons/checkcirc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986" y="257495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03336" y="3383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Teams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49056" y="37947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pre-check of a claim scenario against policy terms before formal submission.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400" i="1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call-center load, speed up claim filing, and raise first-time-right claim submissions.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copilot answers —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33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093976"/>
            <a:ext cx="548640" cy="5486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6" name="Image 0" descr="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2225650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574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lookup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8096" y="2788920"/>
            <a:ext cx="3081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covered vs. not covered for a given plan and scenario.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1688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33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2093976"/>
            <a:ext cx="548640" cy="5486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11" name="Image 1" descr="icons/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8" y="2225650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20574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&amp; sub-limits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81144" y="2788920"/>
            <a:ext cx="3081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rent caps, per-illness limits, co-pay and sub-limit breakdowns.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74736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33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2093976"/>
            <a:ext cx="548640" cy="5486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16" name="Image 2" descr="icons/c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866" y="2225650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89136" y="20574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Waiting periods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94192" y="2788920"/>
            <a:ext cx="3081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Initial, disease-specific and pre-existing-condition waiting periods.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33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4334256"/>
            <a:ext cx="548640" cy="5486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21" name="Image 3" descr="icons/ma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70" y="4465930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2976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steps &amp; timelines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68096" y="5029200"/>
            <a:ext cx="3081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filing process with expected turnaround times.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61688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33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1144" y="4334256"/>
            <a:ext cx="548640" cy="5486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26" name="Image 4" descr="icons/filetex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818" y="4465930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76088" y="42976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needed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81144" y="5029200"/>
            <a:ext cx="3081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of documents required for the specific claim type.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74736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33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4192" y="4334256"/>
            <a:ext cx="548640" cy="5486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31" name="Image 5" descr="icons/checkcircl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5866" y="4465930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89136" y="42976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pre-check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94192" y="5029200"/>
            <a:ext cx="3081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 claim scenario against policy rules before submission.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RAG — not a plain LLM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LLM answers from parameters alone and can confidently invent policy terms. RAG forces every answer to be grounded in the customer's actual policy document.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50008"/>
            <a:ext cx="502920" cy="502920"/>
          </a:xfrm>
          <a:prstGeom prst="ellipse">
            <a:avLst/>
          </a:prstGeom>
          <a:solidFill>
            <a:srgbClr val="FBE4E1"/>
          </a:solidFill>
          <a:ln/>
        </p:spPr>
      </p:sp>
      <p:pic>
        <p:nvPicPr>
          <p:cNvPr id="7" name="Image 0" descr="icons/alert_2129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450592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31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LLM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017520"/>
            <a:ext cx="47091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✗"/>
            </a:pPr>
            <a:r>
              <a:rPr lang="en-US" sz="13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training data / memory only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✗"/>
            </a:pPr>
            <a:r>
              <a:rPr lang="en-US" sz="13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hallucinate limits, waiting periods or exclusions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✗"/>
            </a:pPr>
            <a:r>
              <a:rPr lang="en-US" sz="13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back to the actual policy wording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✗"/>
            </a:pPr>
            <a:r>
              <a:rPr lang="en-US" sz="13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quality drifts as policies change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✗"/>
            </a:pPr>
            <a:r>
              <a:rPr lang="en-US" sz="13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say “I don't have this in your policy” reliably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205740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065A82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35000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icons/checkcircle_2129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450592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331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&amp; Claims Copilot (RAG)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37960" y="3017520"/>
            <a:ext cx="47091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exact clauses from the policy PDF at query time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using only retrieved, verified passages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/ links the source section &amp; page number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stays current when the policy PDF updates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Abstains or escalates when no matching clause is found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answer follows the same three-step contract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76272" y="2578608"/>
            <a:ext cx="768096" cy="768096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6" name="Image 0" descr="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0615" y="2762951"/>
            <a:ext cx="399410" cy="3994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Retrieve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70432" y="3886200"/>
            <a:ext cx="27797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exact relevant clauses from the policy PDF using semantic + keyword search.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261104" y="3108960"/>
            <a:ext cx="393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709160" y="228600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71032" y="2578608"/>
            <a:ext cx="768096" cy="768096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12" name="Image 1" descr="icons/cpu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375" y="2762951"/>
            <a:ext cx="399410" cy="3994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Answer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65192" y="3886200"/>
            <a:ext cx="27797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response using only the retrieved clauses — never from model memory alone.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055864" y="3108960"/>
            <a:ext cx="393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8503920" y="228600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765792" y="2578608"/>
            <a:ext cx="768096" cy="768096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18" name="Image 2" descr="icons/lin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135" y="2762951"/>
            <a:ext cx="399410" cy="3994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Cite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759952" y="3886200"/>
            <a:ext cx="27797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source section, clause and page number so the answer is independently verifiable.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6957"/>
            </a:avLst>
          </a:prstGeom>
          <a:solidFill>
            <a:srgbClr val="EDF3F7"/>
          </a:solidFill>
          <a:ln/>
        </p:spPr>
      </p:sp>
      <p:sp>
        <p:nvSpPr>
          <p:cNvPr id="22" name="Text 17"/>
          <p:cNvSpPr/>
          <p:nvPr/>
        </p:nvSpPr>
        <p:spPr>
          <a:xfrm>
            <a:off x="1188720" y="5074920"/>
            <a:ext cx="9784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response —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clause supports an answer, the assistant states that explicitly and routes the query to a human agent instead of guessing.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46120" cy="4160520"/>
          </a:xfrm>
          <a:prstGeom prst="roundRect">
            <a:avLst>
              <a:gd name="adj" fmla="val 2254"/>
            </a:avLst>
          </a:prstGeom>
          <a:solidFill>
            <a:srgbClr val="E4EEF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8424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INGESTION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977640" y="1874520"/>
            <a:ext cx="3794760" cy="4160520"/>
          </a:xfrm>
          <a:prstGeom prst="roundRect">
            <a:avLst>
              <a:gd name="adj" fmla="val 1928"/>
            </a:avLst>
          </a:prstGeom>
          <a:solidFill>
            <a:srgbClr val="DCEDEA"/>
          </a:solidFill>
          <a:ln/>
        </p:spPr>
      </p:sp>
      <p:sp>
        <p:nvSpPr>
          <p:cNvPr id="7" name="Text 5"/>
          <p:cNvSpPr/>
          <p:nvPr/>
        </p:nvSpPr>
        <p:spPr>
          <a:xfrm>
            <a:off x="4160520" y="198424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ORCHESTRATION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955280" y="1874520"/>
            <a:ext cx="3685032" cy="4160520"/>
          </a:xfrm>
          <a:prstGeom prst="roundRect">
            <a:avLst>
              <a:gd name="adj" fmla="val 1985"/>
            </a:avLst>
          </a:prstGeom>
          <a:solidFill>
            <a:srgbClr val="E4EEF4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0" y="1984248"/>
            <a:ext cx="3319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28803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1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2432304"/>
            <a:ext cx="2660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PDFs, wordings, FAQs, circulars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28803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1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3163824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&amp; chunking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3419856"/>
            <a:ext cx="266090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Section/clause-aware splitting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28803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1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3895344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4151376"/>
            <a:ext cx="266090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 each chunk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4572000"/>
            <a:ext cx="28803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1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" y="4626864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+ metadata store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4882896"/>
            <a:ext cx="26609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indexed with policy ID, section, page, product, version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60520" y="2377440"/>
            <a:ext cx="34290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1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70248" y="2432304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agent query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70248" y="2688336"/>
            <a:ext cx="320954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or claim scenario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60520" y="3108960"/>
            <a:ext cx="34290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1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70248" y="3163824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understanding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70248" y="3419856"/>
            <a:ext cx="320954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entity extraction (product, event, amount)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60520" y="3840480"/>
            <a:ext cx="34290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1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270248" y="3895344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70248" y="4151376"/>
            <a:ext cx="320954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keyword search, top-k chunks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60520" y="4572000"/>
            <a:ext cx="34290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1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270248" y="4626864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70248" y="4882896"/>
            <a:ext cx="320954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scores relevance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60520" y="5303520"/>
            <a:ext cx="34290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1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270248" y="5358384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assembly + LLM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70248" y="5614416"/>
            <a:ext cx="320954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 with citations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138160" y="2377440"/>
            <a:ext cx="33192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1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47888" y="2432304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customer chat UI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47888" y="2688336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app widget, agent console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3383280"/>
            <a:ext cx="33192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1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247888" y="3438144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pre-check module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47888" y="3694176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scenario → rule + clause check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138160" y="4389120"/>
            <a:ext cx="331927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1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247888" y="4443984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layer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47888" y="4700016"/>
            <a:ext cx="309981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check, confidence, PII filter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138160" y="5120640"/>
            <a:ext cx="33192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1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247888" y="5175504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to human agent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47888" y="5431536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/ no-match hand-off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39312" y="5029200"/>
            <a:ext cx="365760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49" name="Shape 47"/>
          <p:cNvSpPr/>
          <p:nvPr/>
        </p:nvSpPr>
        <p:spPr>
          <a:xfrm>
            <a:off x="7607808" y="5440680"/>
            <a:ext cx="365760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50" name="Text 4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 — indexing and query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INDEXING (runs when policy documents are added or updated)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562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6712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policy PDF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26664" y="2039112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73552" y="178308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8562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10712" y="216712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Clause-aware chunking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51576" y="2039112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98464" y="178308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8562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35624" y="216712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embeddings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76488" y="2039112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723376" y="178308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33104" y="18562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60536" y="216712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to vector DB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metadata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0632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— QUERY TIME (runs for every user question, in real time)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2900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49424" y="37947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04872" y="34290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2496312" y="342900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05656" y="37947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61104" y="34290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4352544" y="342900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top-k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chunks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61888" y="37947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17336" y="34290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</p:sp>
      <p:sp>
        <p:nvSpPr>
          <p:cNvPr id="31" name="Text 29"/>
          <p:cNvSpPr/>
          <p:nvPr/>
        </p:nvSpPr>
        <p:spPr>
          <a:xfrm>
            <a:off x="6208776" y="342900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 for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818120" y="37947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973568" y="34290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</p:sp>
      <p:sp>
        <p:nvSpPr>
          <p:cNvPr id="34" name="Text 32"/>
          <p:cNvSpPr/>
          <p:nvPr/>
        </p:nvSpPr>
        <p:spPr>
          <a:xfrm>
            <a:off x="8065008" y="342900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grounded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674352" y="37947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829800" y="34290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</p:sp>
      <p:sp>
        <p:nvSpPr>
          <p:cNvPr id="37" name="Text 35"/>
          <p:cNvSpPr/>
          <p:nvPr/>
        </p:nvSpPr>
        <p:spPr>
          <a:xfrm>
            <a:off x="9921240" y="342900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8920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EDF3F7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48920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re-ranking matters:  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vector search is fast but approximate; a cross-encoder re-ranker re-scores the top candidates against the exact query so the LLM sees the most precise clauses — critical when a limit and a sub-limit sit in nearby but distinct paragraphs.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grounded answer,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583680" cy="685800"/>
          </a:xfrm>
          <a:prstGeom prst="roundRect">
            <a:avLst>
              <a:gd name="adj" fmla="val 46667"/>
            </a:avLst>
          </a:prstGeom>
          <a:solidFill>
            <a:srgbClr val="EDF3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a pre-existing knee condition covered under my policy, and after how long?”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6583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</p:sp>
      <p:pic>
        <p:nvPicPr>
          <p:cNvPr id="7" name="Image 0" descr="icons/filetext_1C7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71576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67919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— Policy Wording, Section 4.2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297180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“Pre-existing diseases, including joint conditions, are covered after a continuous waiting period of 36 months from policy inception, subject to disclosure at the time of proposal.”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· Clause 4.2.3 · Policy Wording v2.1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4114800"/>
            <a:ext cx="6583680" cy="1691640"/>
          </a:xfrm>
          <a:prstGeom prst="roundRect">
            <a:avLst>
              <a:gd name="adj" fmla="val 4865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065A82">
                <a:alpha val="25000"/>
              </a:srgbClr>
            </a:outerShdw>
          </a:effectLst>
        </p:spPr>
      </p:sp>
      <p:pic>
        <p:nvPicPr>
          <p:cNvPr id="12" name="Image 1" descr="icons/check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97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4261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answer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77240" y="4553712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pre-existing conditions such as a knee condition are covered after a continuous 36-month waiting period from your policy start date, provided it was disclosed at proposal.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77240" y="539496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Policy Wording, Page 14, Clause 4.2.3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498080" y="1645920"/>
            <a:ext cx="4142232" cy="4160520"/>
          </a:xfrm>
          <a:prstGeom prst="roundRect">
            <a:avLst>
              <a:gd name="adj" fmla="val 2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331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772400" y="2331720"/>
            <a:ext cx="3611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(36 months) comes directly from the policy, not a generic estimate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and clause let the agent or customer verify instantly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 on a different plan retrieves that plan's own clause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clause matches, the copilot says so instead of guessing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pre-check — before formal submission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84832" cy="28346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98448" y="2167128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cha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3042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62072"/>
            <a:ext cx="1901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3081528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scenario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76656" y="350215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the claim scenario in natural language (what happened, when, treatment/loss).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2638044" y="320040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52344" y="1965960"/>
            <a:ext cx="2084832" cy="28346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02152" y="2167128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icon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30428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43784" y="2862072"/>
            <a:ext cx="1901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843784" y="3081528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entities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880360" y="350215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pulls structured fields: event type, date, amount, provider, diagnosis/cause.</a:t>
            </a:r>
            <a:endParaRPr lang="en-US" sz="980" dirty="0"/>
          </a:p>
        </p:txBody>
      </p:sp>
      <p:sp>
        <p:nvSpPr>
          <p:cNvPr id="17" name="Text 13"/>
          <p:cNvSpPr/>
          <p:nvPr/>
        </p:nvSpPr>
        <p:spPr>
          <a:xfrm>
            <a:off x="4841748" y="320040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956048" y="1965960"/>
            <a:ext cx="2084832" cy="28346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1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05856" y="2167128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2304288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47488" y="2862072"/>
            <a:ext cx="1901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047488" y="3081528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policy clauses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084064" y="350215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 matching coverage, exclusion, limit and waiting-period clauses.</a:t>
            </a:r>
            <a:endParaRPr lang="en-US" sz="980" dirty="0"/>
          </a:p>
        </p:txBody>
      </p:sp>
      <p:sp>
        <p:nvSpPr>
          <p:cNvPr id="24" name="Text 19"/>
          <p:cNvSpPr/>
          <p:nvPr/>
        </p:nvSpPr>
        <p:spPr>
          <a:xfrm>
            <a:off x="7045452" y="320040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→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159752" y="1965960"/>
            <a:ext cx="2084832" cy="28346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1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909560" y="2167128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3" descr="icons/checkcirc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304288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51192" y="2862072"/>
            <a:ext cx="1901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251192" y="3081528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+ clause check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287768" y="350215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is checked against limits, sub-limits, waiting periods and exclusions.</a:t>
            </a:r>
            <a:endParaRPr lang="en-US" sz="980" dirty="0"/>
          </a:p>
        </p:txBody>
      </p:sp>
      <p:sp>
        <p:nvSpPr>
          <p:cNvPr id="31" name="Text 25"/>
          <p:cNvSpPr/>
          <p:nvPr/>
        </p:nvSpPr>
        <p:spPr>
          <a:xfrm>
            <a:off x="9249156" y="320040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→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9363456" y="1965960"/>
            <a:ext cx="2084832" cy="28346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1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113264" y="2167128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4" name="Image 4" descr="icons/filetex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0424" y="2304288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454896" y="2862072"/>
            <a:ext cx="1901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9454896" y="3081528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Pre-check report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9491472" y="350215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outcome, required documents, and flags returned before submission.</a:t>
            </a:r>
            <a:endParaRPr lang="en-US" sz="980" dirty="0"/>
          </a:p>
        </p:txBody>
      </p:sp>
      <p:sp>
        <p:nvSpPr>
          <p:cNvPr id="38" name="Shape 31"/>
          <p:cNvSpPr/>
          <p:nvPr/>
        </p:nvSpPr>
        <p:spPr>
          <a:xfrm>
            <a:off x="548640" y="50749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21295C"/>
          </a:solidFill>
          <a:ln/>
        </p:spPr>
      </p:sp>
      <p:sp>
        <p:nvSpPr>
          <p:cNvPr id="39" name="Text 32"/>
          <p:cNvSpPr/>
          <p:nvPr/>
        </p:nvSpPr>
        <p:spPr>
          <a:xfrm>
            <a:off x="822960" y="5074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output:  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“Likely payable — within room-rent sub-limit; waiting period satisfied. Upload: hospital bill, discharge summary, doctor's prescription. Note: pre-authorization required for cashless.”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1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6" name="Image 0" descr="icons/cpu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1671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060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898648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Instruction-tuned model (e.g. GPT-4 / Claude / open-weight) for grounded generation &amp; entity extraction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3374136" y="187452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1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57016" y="205740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11" name="Image 1" descr="icons/datab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1671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7016" y="26060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store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57016" y="2898648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Pinecone / pgvector for chunk embeddings + metadata filters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6199632" y="187452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1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205740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16" name="Image 2" descr="icons/lay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671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2512" y="26060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82512" y="2898648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Domain-suitable text embedding model for semantic similarity search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9025128" y="187452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1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08008" y="205740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21" name="Image 3" descr="icons/lin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21671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08008" y="26060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208008" y="2898648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LlamaIndex-style pipeline for retrieval, re-ranking &amp; prompt assembly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548640" y="391363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1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1520" y="4096512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26" name="Image 4" descr="icons/filetex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20624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6451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processing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31520" y="49377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parsing, OCR fallback, clause/section-aware chunking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3374136" y="391363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1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57016" y="4096512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31" name="Image 5" descr="icons/cha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6744" y="420624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57016" y="46451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557016" y="49377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for customers/agents, API layer for claims pre-check integration</a:t>
            </a:r>
            <a:endParaRPr lang="en-US" sz="930" dirty="0"/>
          </a:p>
        </p:txBody>
      </p:sp>
      <p:sp>
        <p:nvSpPr>
          <p:cNvPr id="34" name="Shape 26"/>
          <p:cNvSpPr/>
          <p:nvPr/>
        </p:nvSpPr>
        <p:spPr>
          <a:xfrm>
            <a:off x="6199632" y="391363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1">
                <a:alpha val="9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82512" y="4096512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36" name="Image 6" descr="icons/lock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206240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82512" y="46451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&amp; logging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382512" y="49377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checks, PII redaction, confidence scoring, audit trail</a:t>
            </a:r>
            <a:endParaRPr lang="en-US" sz="930" dirty="0"/>
          </a:p>
        </p:txBody>
      </p:sp>
      <p:sp>
        <p:nvSpPr>
          <p:cNvPr id="39" name="Shape 30"/>
          <p:cNvSpPr/>
          <p:nvPr/>
        </p:nvSpPr>
        <p:spPr>
          <a:xfrm>
            <a:off x="9025128" y="391363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1">
                <a:alpha val="9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208008" y="4096512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41" name="Image 7" descr="icons/zap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7736" y="4206240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08008" y="46451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208008" y="49377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Cloud-hosted, containerized services with autoscaling for peak call-center hours</a:t>
            </a:r>
            <a:endParaRPr lang="en-US" sz="930" dirty="0"/>
          </a:p>
        </p:txBody>
      </p:sp>
      <p:sp>
        <p:nvSpPr>
          <p:cNvPr id="44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and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5" name="Image 0" descr="icons/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20519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0195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Mandatory citation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21945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 ships without a linked source section/page.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9" name="Image 1" descr="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2984602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8346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threshold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34440" y="312724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Low-similarity retrieval triggers an “I'm not sure” + escalation.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785616"/>
            <a:ext cx="548640" cy="5486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13" name="Image 2" descr="icons/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3917290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76732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34440" y="405993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or high-value claims route to a human agent.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4718304"/>
            <a:ext cx="548640" cy="5486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17" name="Image 3" descr="icons/lo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4" y="4849978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70001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redaction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234440" y="499262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identifiers scrubbed before logging or model calls.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263640" y="1874520"/>
            <a:ext cx="5376672" cy="3840480"/>
          </a:xfrm>
          <a:prstGeom prst="roundRect">
            <a:avLst>
              <a:gd name="adj" fmla="val 2381"/>
            </a:avLst>
          </a:prstGeom>
          <a:solidFill>
            <a:srgbClr val="21295C"/>
          </a:solidFill>
          <a:ln/>
        </p:spPr>
      </p:sp>
      <p:sp>
        <p:nvSpPr>
          <p:cNvPr id="21" name="Text 15"/>
          <p:cNvSpPr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tracked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583680" y="265176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17"/>
          <p:cNvSpPr/>
          <p:nvPr/>
        </p:nvSpPr>
        <p:spPr>
          <a:xfrm>
            <a:off x="6858000" y="25328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/ groundedness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858000" y="2788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answer only use retrieved content?</a:t>
            </a:r>
            <a:endParaRPr lang="en-US" sz="1030" dirty="0"/>
          </a:p>
        </p:txBody>
      </p:sp>
      <p:sp>
        <p:nvSpPr>
          <p:cNvPr id="25" name="Shape 19"/>
          <p:cNvSpPr/>
          <p:nvPr/>
        </p:nvSpPr>
        <p:spPr>
          <a:xfrm>
            <a:off x="6583680" y="327355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0"/>
          <p:cNvSpPr/>
          <p:nvPr/>
        </p:nvSpPr>
        <p:spPr>
          <a:xfrm>
            <a:off x="6858000" y="3154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precision@k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58000" y="34107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right clauses in the top results?</a:t>
            </a:r>
            <a:endParaRPr lang="en-US" sz="1030" dirty="0"/>
          </a:p>
        </p:txBody>
      </p:sp>
      <p:sp>
        <p:nvSpPr>
          <p:cNvPr id="28" name="Shape 22"/>
          <p:cNvSpPr/>
          <p:nvPr/>
        </p:nvSpPr>
        <p:spPr>
          <a:xfrm>
            <a:off x="6583680" y="38953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3"/>
          <p:cNvSpPr/>
          <p:nvPr/>
        </p:nvSpPr>
        <p:spPr>
          <a:xfrm>
            <a:off x="6858000" y="37764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858000" y="403250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cited page/section actually support the claim?</a:t>
            </a:r>
            <a:endParaRPr lang="en-US" sz="1030" dirty="0"/>
          </a:p>
        </p:txBody>
      </p:sp>
      <p:sp>
        <p:nvSpPr>
          <p:cNvPr id="31" name="Shape 25"/>
          <p:cNvSpPr/>
          <p:nvPr/>
        </p:nvSpPr>
        <p:spPr>
          <a:xfrm>
            <a:off x="6583680" y="451713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26"/>
          <p:cNvSpPr/>
          <p:nvPr/>
        </p:nvSpPr>
        <p:spPr>
          <a:xfrm>
            <a:off x="6858000" y="439826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relevance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858000" y="465429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response address the user's question?</a:t>
            </a:r>
            <a:endParaRPr lang="en-US" sz="1030" dirty="0"/>
          </a:p>
        </p:txBody>
      </p:sp>
      <p:sp>
        <p:nvSpPr>
          <p:cNvPr id="34" name="Shape 28"/>
          <p:cNvSpPr/>
          <p:nvPr/>
        </p:nvSpPr>
        <p:spPr>
          <a:xfrm>
            <a:off x="6583680" y="513892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29"/>
          <p:cNvSpPr/>
          <p:nvPr/>
        </p:nvSpPr>
        <p:spPr>
          <a:xfrm>
            <a:off x="6858000" y="502005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858000" y="52760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queries correctly routed to a human</a:t>
            </a:r>
            <a:endParaRPr lang="en-US" sz="1030" dirty="0"/>
          </a:p>
        </p:txBody>
      </p:sp>
      <p:sp>
        <p:nvSpPr>
          <p:cNvPr id="37" name="Text 3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regulated insurance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42032" cy="35661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58568"/>
            <a:ext cx="621792" cy="621792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6" name="Image 0" descr="icons/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02" y="2407798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30632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68096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customers, agents and claims staff; policy data scoped per authenticated user.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46704" y="1965960"/>
            <a:ext cx="2542032" cy="35661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02736" y="2258568"/>
            <a:ext cx="621792" cy="621792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11" name="Image 1" descr="icons/ey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966" y="2407798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0632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6616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query, retrieved clause and answer is logged for compliance review and dispute resolution.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44768" y="1965960"/>
            <a:ext cx="2542032" cy="35661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2258568"/>
            <a:ext cx="621792" cy="621792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16" name="Image 2" descr="icon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030" y="2407798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30632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alignment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64224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wording and disclaimers reviewed against IRDAI / applicable insurance guidelines.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42832" y="1965960"/>
            <a:ext cx="2542032" cy="35661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98864" y="2258568"/>
            <a:ext cx="621792" cy="621792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21" name="Image 3" descr="icons/datab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8094" y="2407798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62288" y="30632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residency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62288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documents and embeddings stored within approved regions; encrypted at rest and in transit.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metrics the copilot moves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1B2A5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60604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∓30-40%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Call-center volume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routine policy questions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46704" y="219456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1B2A52"/>
          </a:solidFill>
          <a:ln/>
        </p:spPr>
      </p:sp>
      <p:sp>
        <p:nvSpPr>
          <p:cNvPr id="8" name="Text 6"/>
          <p:cNvSpPr/>
          <p:nvPr/>
        </p:nvSpPr>
        <p:spPr>
          <a:xfrm>
            <a:off x="3483864" y="260604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−2x faster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529584" y="347472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response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coverage / claim queries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44768" y="219456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1B2A52"/>
          </a:solidFill>
          <a:ln/>
        </p:spPr>
      </p:sp>
      <p:sp>
        <p:nvSpPr>
          <p:cNvPr id="11" name="Text 9"/>
          <p:cNvSpPr/>
          <p:nvPr/>
        </p:nvSpPr>
        <p:spPr>
          <a:xfrm>
            <a:off x="6281928" y="260604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+First-time-right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327648" y="347472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submissions with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correct documentation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42832" y="219456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1B2A52"/>
          </a:solidFill>
          <a:ln/>
        </p:spPr>
      </p:sp>
      <p:sp>
        <p:nvSpPr>
          <p:cNvPr id="14" name="Text 12"/>
          <p:cNvSpPr/>
          <p:nvPr/>
        </p:nvSpPr>
        <p:spPr>
          <a:xfrm>
            <a:off x="9079992" y="260604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125712" y="347472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with a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citation, by design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targets — to be validated against pilot data during the first review cycle.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301752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POC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3474720"/>
            <a:ext cx="30083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1-2 policy PDFs, build RAG Q&amp;A, validate grounding &amp; citation accuracy on sample questions.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96512" y="347472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61688" y="20116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01752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Pilot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17720" y="3474720"/>
            <a:ext cx="30083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claims pre-check module, connect agent console, run with a limited agent group + eval metrics.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09560" y="347472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74736" y="20116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30768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430768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30768" y="301752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Scale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30768" y="3474720"/>
            <a:ext cx="30083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full policy catalog, customer-facing rollout, guardrail hardening, compliance sign-off.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97680"/>
            <a:ext cx="4754880" cy="47548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920240"/>
            <a:ext cx="1005840" cy="10058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A2331">
                <a:alpha val="18000"/>
              </a:srgbClr>
            </a:outerShdw>
          </a:effectLst>
        </p:spPr>
      </p:sp>
      <p:pic>
        <p:nvPicPr>
          <p:cNvPr id="5" name="Image 0" descr="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6362" y="216164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2461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40233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Claims Copilot — questions from the panel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2026-07-26T14:22:29Z</dcterms:created>
  <dcterms:modified xsi:type="dcterms:W3CDTF">2026-07-26T14:22:29Z</dcterms:modified>
</cp:coreProperties>
</file>