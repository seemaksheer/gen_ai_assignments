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Policy &amp; Claims Copilot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000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4C99"/>
                </a:solidFill>
              </a:defRPr>
            </a:pPr>
            <a:r>
              <a:t>Policy &amp; Claims Copilot</a:t>
            </a:r>
          </a:p>
          <a:p>
            <a:pPr>
              <a:defRPr sz="2200"/>
            </a:pPr>
            <a:r>
              <a:t>LLM + Retrieval Augmented Generation (RAG)</a:t>
            </a:r>
            <a:br/>
            <a:r>
              <a:t>Technical Lead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1097280"/>
            <a:ext cx="3657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User</a:t>
            </a:r>
          </a:p>
          <a:p>
            <a:r>
              <a:t>↓</a:t>
            </a:r>
          </a:p>
          <a:p>
            <a:r>
              <a:t>Chatbot</a:t>
            </a:r>
          </a:p>
          <a:p>
            <a:r>
              <a:t>↓</a:t>
            </a:r>
          </a:p>
          <a:p>
            <a:r>
              <a:t>Embeddings</a:t>
            </a:r>
          </a:p>
          <a:p>
            <a:r>
              <a:t>↓</a:t>
            </a:r>
          </a:p>
          <a:p>
            <a:r>
              <a:t>Vector DB</a:t>
            </a:r>
          </a:p>
          <a:p>
            <a:r>
              <a:t>↓</a:t>
            </a:r>
          </a:p>
          <a:p>
            <a:r>
              <a:t>LLM</a:t>
            </a:r>
          </a:p>
          <a:p>
            <a:r>
              <a:t>↓</a:t>
            </a:r>
          </a:p>
          <a:p>
            <a:r>
              <a:t>Response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200"/>
            </a:pPr>
            <a:r>
              <a:t>• Customers struggle to understand policy documents.</a:t>
            </a:r>
          </a:p>
          <a:p>
            <a:pPr algn="l">
              <a:defRPr sz="2200"/>
            </a:pPr>
            <a:r>
              <a:t>• High call-center workload.</a:t>
            </a:r>
          </a:p>
          <a:p>
            <a:pPr algn="l">
              <a:defRPr sz="2200"/>
            </a:pPr>
            <a:r>
              <a:t>• Incorrect claim submissions.</a:t>
            </a:r>
          </a:p>
          <a:p>
            <a:pPr algn="l">
              <a:defRPr sz="2200"/>
            </a:pPr>
            <a:r>
              <a:t>• Missing documents delay processing.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0000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t>Business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200"/>
            </a:pPr>
            <a:r>
              <a:t>• Instant policy answers</a:t>
            </a:r>
          </a:p>
          <a:p>
            <a:pPr algn="l">
              <a:defRPr sz="2200"/>
            </a:pPr>
            <a:r>
              <a:t>• Explain coverage, exclusions, waiting periods</a:t>
            </a:r>
          </a:p>
          <a:p>
            <a:pPr algn="l">
              <a:defRPr sz="2200"/>
            </a:pPr>
            <a:r>
              <a:t>• Claim pre-check</a:t>
            </a:r>
          </a:p>
          <a:p>
            <a:pPr algn="l">
              <a:defRPr sz="2200"/>
            </a:pPr>
            <a:r>
              <a:t>• Improve customer experience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0000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t>Why LLM Alone is Not Enough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200"/>
            </a:pPr>
            <a:r>
              <a:t>• May hallucinate policy clauses</a:t>
            </a:r>
          </a:p>
          <a:p>
            <a:pPr algn="l">
              <a:defRPr sz="2200"/>
            </a:pPr>
            <a:r>
              <a:t>• Can answer from general knowledge</a:t>
            </a:r>
          </a:p>
          <a:p>
            <a:pPr algn="l">
              <a:defRPr sz="2200"/>
            </a:pPr>
            <a:r>
              <a:t>• Compliance risk</a:t>
            </a:r>
          </a:p>
          <a:p>
            <a:pPr algn="l">
              <a:defRPr sz="2200"/>
            </a:pPr>
            <a:r>
              <a:t>• No source citations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0000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t>Why RAG?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200"/>
            </a:pPr>
            <a:r>
              <a:t>1. Retrieve relevant policy clauses</a:t>
            </a:r>
          </a:p>
          <a:p>
            <a:pPr algn="l">
              <a:defRPr sz="2200"/>
            </a:pPr>
            <a:r>
              <a:t>2. Ground answer using retrieved text</a:t>
            </a:r>
          </a:p>
          <a:p>
            <a:pPr algn="l">
              <a:defRPr sz="2200"/>
            </a:pPr>
            <a:r>
              <a:t>3. Return page/source reference</a:t>
            </a:r>
          </a:p>
          <a:p>
            <a:pPr algn="l">
              <a:defRPr sz="2200"/>
            </a:pPr>
            <a:r>
              <a:t>4. Reduce hallucinations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0000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t>Solution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200"/>
            </a:pPr>
            <a:r>
              <a:t>User</a:t>
            </a:r>
          </a:p>
          <a:p>
            <a:pPr algn="l">
              <a:defRPr sz="2200"/>
            </a:pPr>
            <a:r>
              <a:t>↓</a:t>
            </a:r>
          </a:p>
          <a:p>
            <a:pPr algn="l">
              <a:defRPr sz="2200"/>
            </a:pPr>
            <a:r>
              <a:t>Chatbot</a:t>
            </a:r>
          </a:p>
          <a:p>
            <a:pPr algn="l">
              <a:defRPr sz="2200"/>
            </a:pPr>
            <a:r>
              <a:t>↓</a:t>
            </a:r>
          </a:p>
          <a:p>
            <a:pPr algn="l">
              <a:defRPr sz="2200"/>
            </a:pPr>
            <a:r>
              <a:t>Embeddings</a:t>
            </a:r>
          </a:p>
          <a:p>
            <a:pPr algn="l">
              <a:defRPr sz="2200"/>
            </a:pPr>
            <a:r>
              <a:t>↓</a:t>
            </a:r>
          </a:p>
          <a:p>
            <a:pPr algn="l">
              <a:defRPr sz="2200"/>
            </a:pPr>
            <a:r>
              <a:t>Vector Database</a:t>
            </a:r>
          </a:p>
          <a:p>
            <a:pPr algn="l">
              <a:defRPr sz="2200"/>
            </a:pPr>
            <a:r>
              <a:t>↓</a:t>
            </a:r>
          </a:p>
          <a:p>
            <a:pPr algn="l">
              <a:defRPr sz="2200"/>
            </a:pPr>
            <a:r>
              <a:t>LLM</a:t>
            </a:r>
          </a:p>
          <a:p>
            <a:pPr algn="l">
              <a:defRPr sz="2200"/>
            </a:pPr>
            <a:r>
              <a:t>↓</a:t>
            </a:r>
          </a:p>
          <a:p>
            <a:pPr algn="l">
              <a:defRPr sz="2200"/>
            </a:pPr>
            <a:r>
              <a:t>Grounded Response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0000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t>Embeddings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200"/>
            </a:pPr>
            <a:r>
              <a:t>Convert policy text into vectors.</a:t>
            </a:r>
          </a:p>
          <a:p>
            <a:pPr algn="l">
              <a:defRPr sz="2200"/>
            </a:pPr>
            <a:r>
              <a:t>Similar meanings have nearby vectors.</a:t>
            </a:r>
          </a:p>
          <a:p>
            <a:pPr algn="l">
              <a:defRPr sz="2200"/>
            </a:pPr>
            <a:r>
              <a:t>Used for semantic search.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0000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t>Vector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200"/>
            </a:pPr>
            <a:r>
              <a:t>Question → Embedding → Similarity Search → Relevant Policy Chunks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0000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t>RAG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200"/>
            </a:pPr>
            <a:r>
              <a:t>Upload PDF → Chunk → Embeddings → Vector DB → Retrieve → LLM → Response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0000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t>Claim Pre-Check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200"/>
            </a:pPr>
            <a:r>
              <a:t>Validate:</a:t>
            </a:r>
          </a:p>
          <a:p>
            <a:pPr algn="l">
              <a:defRPr sz="2200"/>
            </a:pPr>
            <a:r>
              <a:t>• Coverage</a:t>
            </a:r>
          </a:p>
          <a:p>
            <a:pPr algn="l">
              <a:defRPr sz="2200"/>
            </a:pPr>
            <a:r>
              <a:t>• Waiting Period</a:t>
            </a:r>
          </a:p>
          <a:p>
            <a:pPr algn="l">
              <a:defRPr sz="2200"/>
            </a:pPr>
            <a:r>
              <a:t>• Required Documents</a:t>
            </a:r>
          </a:p>
          <a:p>
            <a:pPr algn="l">
              <a:defRPr sz="2200"/>
            </a:pPr>
            <a:r>
              <a:t>• Policy Limits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0000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t>Python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200"/>
            </a:pPr>
            <a:r>
              <a:t>PyPDFLoader</a:t>
            </a:r>
          </a:p>
          <a:p>
            <a:pPr algn="l">
              <a:defRPr sz="2200"/>
            </a:pPr>
            <a:r>
              <a:t>RecursiveCharacterTextSplitter</a:t>
            </a:r>
          </a:p>
          <a:p>
            <a:pPr algn="l">
              <a:defRPr sz="2200"/>
            </a:pPr>
            <a:r>
              <a:t>OpenAIEmbeddings</a:t>
            </a:r>
          </a:p>
          <a:p>
            <a:pPr algn="l">
              <a:defRPr sz="2200"/>
            </a:pPr>
            <a:r>
              <a:t>FAISS</a:t>
            </a:r>
          </a:p>
          <a:p>
            <a:pPr algn="l">
              <a:defRPr sz="2200"/>
            </a:pPr>
            <a:r>
              <a:t>Similarity Search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0000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t>Prompt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200"/>
            </a:pPr>
            <a:r>
              <a:t>Answer ONLY using retrieved policy.</a:t>
            </a:r>
          </a:p>
          <a:p>
            <a:pPr algn="l">
              <a:defRPr sz="2200"/>
            </a:pPr>
            <a:r>
              <a:t>If unavailable, say information is not found.</a:t>
            </a:r>
          </a:p>
          <a:p>
            <a:pPr algn="l">
              <a:defRPr sz="2200"/>
            </a:pPr>
            <a:r>
              <a:t>Always cite source page.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0000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t>Business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200"/>
            </a:pPr>
            <a:r>
              <a:t>• Faster support</a:t>
            </a:r>
          </a:p>
          <a:p>
            <a:pPr algn="l">
              <a:defRPr sz="2200"/>
            </a:pPr>
            <a:r>
              <a:t>• Accurate answers</a:t>
            </a:r>
          </a:p>
          <a:p>
            <a:pPr algn="l">
              <a:defRPr sz="2200"/>
            </a:pPr>
            <a:r>
              <a:t>• Reduced costs</a:t>
            </a:r>
          </a:p>
          <a:p>
            <a:pPr algn="l">
              <a:defRPr sz="2200"/>
            </a:pPr>
            <a:r>
              <a:t>• Better first-time claim submission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0000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200"/>
            </a:pPr>
            <a:r>
              <a:t>• Voice Bot</a:t>
            </a:r>
          </a:p>
          <a:p>
            <a:pPr algn="l">
              <a:defRPr sz="2200"/>
            </a:pPr>
            <a:r>
              <a:t>• Multilingual Support</a:t>
            </a:r>
          </a:p>
          <a:p>
            <a:pPr algn="l">
              <a:defRPr sz="2200"/>
            </a:pPr>
            <a:r>
              <a:t>• Azure AI Search</a:t>
            </a:r>
          </a:p>
          <a:p>
            <a:pPr algn="l">
              <a:defRPr sz="2200"/>
            </a:pPr>
            <a:r>
              <a:t>• Fraud Detection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0000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200"/>
            </a:pPr>
            <a:r>
              <a:t>Questions?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0000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