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3" r:id="rId11"/>
    <p:sldId id="267" r:id="rId12"/>
    <p:sldId id="26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2989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Introduce PolicyGenie — an AI copilot for policy Q&amp;A + claim pre-checks
• Built on a lightweight RAG stack: PDF → ChromaDB → Groq Llama 3.3 70B
• Roadmap for today: the problem, how it works, a live demo, then 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Set up the pain: agents and customers both wait on repetitive coverage questions
• Different agents give different answers — no single source of truth
• Goal: ground every answer in the actual policy, cite it, and catch claim mistakes early
• Keep it on free/cheap tiers so the team can iterate quickly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Every stage is a small, swappable, mostly-free library
• pypdf for parsing, NLTK for chunking, HF or OpenAI for embeddings
• ChromaDB for local vector storage, Groq for fast free-tier inference
• Each piece can be swapped later (e.g. Chroma → a managed vector DB) without a rewrite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Two phases: index the policy once (offline), then answer every question (online)
• PDF is chunked, embedded, and stored in ChromaDB
• Each user question is embedded the same way and matched by cosine similarity
• Groq LLM answers strictly from the retrieved chunks and cites section +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pypdf reads the PDF page by page, keeping page numbers as metadata
• A simple heuristic (ALL CAPS / Title Case, short line) tags each line with its section — no ML needed
• NLTK splits into sentences, groups them to ~500 characters per chunk
• 2-sentence overlap between chunks so an idea isn't cut in half at a boundary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Embedding provider is swappable: HF MiniLM (free) or OpenAI (paid, better quality)
• ChromaDB stores ids, vectors, original text, and { page, section } metadata
• It's a persistent local store — no need to re-embed unless the policy changes
• Cosine similarity is what powers the retrieval step next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User question is embedded with the same model used for the documents
• Top-K chunks retrieved by similarity, each tagged with section + page
• Groq LLM is instructed to answer only from context and cite sources, or say it doesn't know
• This prompt contract is the key guardrail against hallucinated coverage answers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845A0-24C8-F7D9-F3E7-0B15B34E5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5BC8E-2D7F-620F-A55A-3CF05B924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4693ED-57DC-9BE6-37B6-65E7EE604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Every stage is a small, swappable, mostly-free library
• pypdf for parsing, NLTK for chunking, HF or OpenAI for embeddings
• ChromaDB for local vector storage, Groq for fast free-tier inference
• Each piece can be swapped later (e.g. Chroma → a managed vector DB) without a rewrite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DCD75-386F-40FA-6C02-5F91DC3312C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180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A518-2DA7-2202-0E8C-91F7591B1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AC0598-B5B7-7665-AB7E-2F25D17FBC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9F60C-A518-E9D7-8012-0CEEF2745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Every stage is a small, swappable, mostly-free library
• pypdf for parsing, NLTK for chunking, HF or OpenAI for embeddings
• ChromaDB for local vector storage, Groq for fast free-tier inference
• Each piece can be swapped later (e.g. Chroma → a managed vector DB) without a rewrite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6EBB2-C4E4-83BB-BAA8-8F6E5CA91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241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through this live example (or run a real query if time allows)
• Point out the answer is structured, numbered, and easy to act on
• Highlight the citation — traces directly back to the ingested PDF, not memorized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79C60-BB2A-E138-710C-0E38C1454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E8B49E-AA56-3186-972A-C4387329E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DE1AD-D652-CB29-4C74-0266C62FC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through this live example (or run a real query if time allows)
• Point out the answer is structured, numbered, and easy to act on
• Highlight the citation — traces directly back to the ingested PDF, not memorized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9FBFC-A3BC-75E0-3A3F-6DA6E60D7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9100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Faster answers, lighter call-center load, first-time-right claims
• Every answer is traceable to a section + page — builds trust
• Cheap to run and fast to iterate — a solid foundation for future features
• Open the floor for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HEALTH INSURANCE ASSISTANT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PolicyGenie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577840" y="5026152"/>
            <a:ext cx="259828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Seema KsheerSagar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4343400"/>
            <a:ext cx="3035808" cy="384048"/>
          </a:xfrm>
          <a:prstGeom prst="roundRect">
            <a:avLst>
              <a:gd name="adj" fmla="val 50000"/>
            </a:avLst>
          </a:prstGeom>
          <a:solidFill>
            <a:srgbClr val="12456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343400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41648" y="434340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12456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1648" y="434340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48656" y="4343400"/>
            <a:ext cx="2121408" cy="384048"/>
          </a:xfrm>
          <a:prstGeom prst="roundRect">
            <a:avLst>
              <a:gd name="adj" fmla="val 50000"/>
            </a:avLst>
          </a:prstGeom>
          <a:solidFill>
            <a:srgbClr val="12456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48656" y="434340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Llama 3.3 70B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6080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Claims Copilot Initiative</a:t>
            </a:r>
            <a:endParaRPr lang="en-US" sz="120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5CFACF11-20DB-B3C4-DFEF-3F1EAF9F3B61}"/>
              </a:ext>
            </a:extLst>
          </p:cNvPr>
          <p:cNvSpPr/>
          <p:nvPr/>
        </p:nvSpPr>
        <p:spPr>
          <a:xfrm>
            <a:off x="975360" y="36728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Copilot for Policy Answers &amp; Claims Pre-Checks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POLICYGENIE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slow &amp; inconsistent to instant &amp; grounded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EAF3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512064" cy="512064"/>
          </a:xfrm>
          <a:prstGeom prst="ellipse">
            <a:avLst/>
          </a:prstGeom>
          <a:solidFill>
            <a:srgbClr val="44586B"/>
          </a:solidFill>
          <a:ln/>
        </p:spPr>
      </p:sp>
      <p:pic>
        <p:nvPicPr>
          <p:cNvPr id="7" name="Image 0" descr="/home/claude/work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128" y="2393168"/>
            <a:ext cx="389169" cy="3891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33172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call-center waits for simple questions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" y="3200400"/>
            <a:ext cx="512064" cy="512064"/>
          </a:xfrm>
          <a:prstGeom prst="ellipse">
            <a:avLst/>
          </a:prstGeom>
          <a:solidFill>
            <a:srgbClr val="44586B"/>
          </a:solidFill>
          <a:ln/>
        </p:spPr>
      </p:sp>
      <p:pic>
        <p:nvPicPr>
          <p:cNvPr id="10" name="Image 1" descr="/home/claude/work/icons/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128" y="3261848"/>
            <a:ext cx="389169" cy="3891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320040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answers across agents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68680" y="4069080"/>
            <a:ext cx="512064" cy="512064"/>
          </a:xfrm>
          <a:prstGeom prst="ellipse">
            <a:avLst/>
          </a:prstGeom>
          <a:solidFill>
            <a:srgbClr val="44586B"/>
          </a:solidFill>
          <a:ln/>
        </p:spPr>
      </p:sp>
      <p:pic>
        <p:nvPicPr>
          <p:cNvPr id="13" name="Image 2" descr="/home/claude/work/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128" y="4130528"/>
            <a:ext cx="389169" cy="3891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06908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errors &amp; delays from missing documents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2449"/>
            </a:avLst>
          </a:prstGeom>
          <a:solidFill>
            <a:srgbClr val="0A2A40"/>
          </a:solidFill>
          <a:ln/>
        </p:spPr>
      </p:sp>
      <p:sp>
        <p:nvSpPr>
          <p:cNvPr id="16" name="Text 11"/>
          <p:cNvSpPr/>
          <p:nvPr/>
        </p:nvSpPr>
        <p:spPr>
          <a:xfrm>
            <a:off x="6583680" y="1828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POLICYGENIE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583680" y="23317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3" descr="/home/claude/work/icons/fileM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128" y="2393168"/>
            <a:ext cx="389169" cy="3891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69480" y="233172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grounded only in the policy text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6583680" y="304495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4" descr="/home/claude/work/icons/bulls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5128" y="3106400"/>
            <a:ext cx="389169" cy="38916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69480" y="304495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cited — section + page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6583680" y="3758184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5" descr="/home/claude/work/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128" y="3819632"/>
            <a:ext cx="389169" cy="389169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269480" y="375818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pre-checked before submission</a:t>
            </a:r>
            <a:endParaRPr lang="en-US" sz="1350" dirty="0"/>
          </a:p>
        </p:txBody>
      </p:sp>
      <p:sp>
        <p:nvSpPr>
          <p:cNvPr id="26" name="Shape 18"/>
          <p:cNvSpPr/>
          <p:nvPr/>
        </p:nvSpPr>
        <p:spPr>
          <a:xfrm>
            <a:off x="6583680" y="4471416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6" descr="/home/claude/work/icons/bo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5128" y="4532864"/>
            <a:ext cx="389169" cy="389169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269480" y="4471416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stack — fast &amp; cheap to iterate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PolicyGenie — Policy &amp; Claims Copilot</a:t>
            </a:r>
            <a:endParaRPr lang="en-US" sz="1000" dirty="0"/>
          </a:p>
        </p:txBody>
      </p:sp>
      <p:sp>
        <p:nvSpPr>
          <p:cNvPr id="30" name="Text 21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lean, mostly-free RAG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7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07008" y="2468880"/>
            <a:ext cx="768096" cy="768096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6" name="Image 0" descr="/home/claude/work/icons/p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180" y="2561052"/>
            <a:ext cx="583753" cy="58375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34290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388620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PDF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98064" y="210312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7A93A6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56432" y="246888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work/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604" y="2561052"/>
            <a:ext cx="583753" cy="58375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07792" y="34290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962656" y="388620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chunking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047488" y="210312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7A93A6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05856" y="2468880"/>
            <a:ext cx="768096" cy="768096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6" name="Image 2" descr="/home/claude/work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8028" y="2561052"/>
            <a:ext cx="583753" cy="58375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7216" y="34290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5212080" y="388620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(cosine)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296912" y="210312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7A93A6">
                <a:alpha val="2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55280" y="2468880"/>
            <a:ext cx="768096" cy="76809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work/icons/vec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7452" y="2561052"/>
            <a:ext cx="583753" cy="58375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4290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/ OpenAI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61504" y="388620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546336" y="2103120"/>
            <a:ext cx="2084832" cy="320040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7A93A6">
                <a:alpha val="2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04704" y="2468880"/>
            <a:ext cx="768096" cy="768096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6" name="Image 4" descr="/home/claude/work/icons/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6876" y="2561052"/>
            <a:ext cx="583753" cy="58375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56064" y="3429000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9710928" y="3886200"/>
            <a:ext cx="1755648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inference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PolicyGenie — Policy &amp; Claims Copilot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PDF becomes a cited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063240"/>
            <a:ext cx="167335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6ED"/>
            </a:solidFill>
            <a:prstDash val="solid"/>
          </a:ln>
          <a:effectLst>
            <a:outerShdw blurRad="76200" dist="25400" dir="5400000" algn="bl" rotWithShape="0">
              <a:srgbClr val="7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4420" y="322783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p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035" y="3302447"/>
            <a:ext cx="472562" cy="4725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3904488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PDF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4233672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document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40280" y="3849624"/>
            <a:ext cx="1051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363724" y="3063240"/>
            <a:ext cx="167335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6ED"/>
            </a:solidFill>
            <a:prstDash val="solid"/>
          </a:ln>
          <a:effectLst>
            <a:outerShdw blurRad="76200" dist="25400" dir="5400000" algn="bl" rotWithShape="0">
              <a:srgbClr val="7A93A6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889504" y="322783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work/icons/c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119" y="3302447"/>
            <a:ext cx="472562" cy="47256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36876" y="3904488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+ Embed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455164" y="4233672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+ embeddings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055364" y="3849624"/>
            <a:ext cx="1051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178808" y="3063240"/>
            <a:ext cx="167335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6ED"/>
            </a:solidFill>
            <a:prstDash val="solid"/>
          </a:ln>
          <a:effectLst>
            <a:outerShdw blurRad="76200" dist="25400" dir="5400000" algn="bl" rotWithShape="0">
              <a:srgbClr val="7A93A6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704588" y="3227832"/>
            <a:ext cx="621792" cy="62179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18" name="Image 2" descr="/home/claude/work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9203" y="3302447"/>
            <a:ext cx="472562" cy="47256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51960" y="3904488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270248" y="4233672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5870448" y="3849624"/>
            <a:ext cx="1051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993892" y="3063240"/>
            <a:ext cx="167335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6ED"/>
            </a:solidFill>
            <a:prstDash val="solid"/>
          </a:ln>
          <a:effectLst>
            <a:outerShdw blurRad="76200" dist="25400" dir="5400000" algn="bl" rotWithShape="0">
              <a:srgbClr val="7A93A6">
                <a:alpha val="2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19672" y="3227832"/>
            <a:ext cx="621792" cy="62179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24" name="Image 3" descr="/home/claude/work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287" y="3302447"/>
            <a:ext cx="472562" cy="47256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067044" y="3904488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Top-K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6085332" y="4233672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7685532" y="3849624"/>
            <a:ext cx="1051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808976" y="3063240"/>
            <a:ext cx="167335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6ED"/>
            </a:solidFill>
            <a:prstDash val="solid"/>
          </a:ln>
          <a:effectLst>
            <a:outerShdw blurRad="76200" dist="25400" dir="5400000" algn="bl" rotWithShape="0">
              <a:srgbClr val="7A93A6">
                <a:alpha val="2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334756" y="3227832"/>
            <a:ext cx="621792" cy="621792"/>
          </a:xfrm>
          <a:prstGeom prst="ellipse">
            <a:avLst/>
          </a:prstGeom>
          <a:solidFill>
            <a:srgbClr val="0B3D5C"/>
          </a:solidFill>
          <a:ln/>
        </p:spPr>
      </p:sp>
      <p:pic>
        <p:nvPicPr>
          <p:cNvPr id="30" name="Image 4" descr="/home/claude/work/icons/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9371" y="3302447"/>
            <a:ext cx="472562" cy="47256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882128" y="3904488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7900416" y="4233672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9500616" y="3849624"/>
            <a:ext cx="105156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9624060" y="3063240"/>
            <a:ext cx="1673352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D8E6ED"/>
            </a:solidFill>
            <a:prstDash val="solid"/>
          </a:ln>
          <a:effectLst>
            <a:outerShdw blurRad="76200" dist="25400" dir="5400000" algn="bl" rotWithShape="0">
              <a:srgbClr val="7A93A6">
                <a:alpha val="2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149840" y="3227832"/>
            <a:ext cx="621792" cy="621792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36" name="Image 5" descr="/home/claude/work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24455" y="3302447"/>
            <a:ext cx="472562" cy="47256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697212" y="3904488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Answer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9715500" y="4233672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+ page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5961888" y="1481328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 w="12700">
            <a:solidFill>
              <a:srgbClr val="D8E6ED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6035040" y="153619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6" descr="/home/claude/work/icons/us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5515" y="1586667"/>
            <a:ext cx="319674" cy="31967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537960" y="1481328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50" dirty="0"/>
          </a:p>
        </p:txBody>
      </p:sp>
      <p:sp>
        <p:nvSpPr>
          <p:cNvPr id="43" name="Shape 34"/>
          <p:cNvSpPr/>
          <p:nvPr/>
        </p:nvSpPr>
        <p:spPr>
          <a:xfrm>
            <a:off x="6830568" y="2039112"/>
            <a:ext cx="0" cy="996696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44" name="Shape 35"/>
          <p:cNvSpPr/>
          <p:nvPr/>
        </p:nvSpPr>
        <p:spPr>
          <a:xfrm>
            <a:off x="9592056" y="1481328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EAF3F7"/>
          </a:solidFill>
          <a:ln w="12700">
            <a:solidFill>
              <a:srgbClr val="D8E6ED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9665208" y="1536192"/>
            <a:ext cx="420624" cy="420624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6" name="Image 7" descr="/home/claude/work/icons/user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15683" y="1586667"/>
            <a:ext cx="319674" cy="319674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10168128" y="1481328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50" dirty="0"/>
          </a:p>
        </p:txBody>
      </p:sp>
      <p:sp>
        <p:nvSpPr>
          <p:cNvPr id="48" name="Shape 38"/>
          <p:cNvSpPr/>
          <p:nvPr/>
        </p:nvSpPr>
        <p:spPr>
          <a:xfrm flipH="1" flipV="1">
            <a:off x="10460735" y="2039112"/>
            <a:ext cx="1" cy="996696"/>
          </a:xfrm>
          <a:prstGeom prst="line">
            <a:avLst/>
          </a:prstGeom>
          <a:noFill/>
          <a:ln w="22225">
            <a:solidFill>
              <a:srgbClr val="F2A65A"/>
            </a:solidFill>
            <a:prstDash val="solid"/>
            <a:tailEnd type="triangle"/>
          </a:ln>
        </p:spPr>
      </p:sp>
      <p:sp>
        <p:nvSpPr>
          <p:cNvPr id="49" name="Text 39"/>
          <p:cNvSpPr/>
          <p:nvPr/>
        </p:nvSpPr>
        <p:spPr>
          <a:xfrm>
            <a:off x="1737360" y="47457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· INDEX ONCE</a:t>
            </a:r>
            <a:endParaRPr lang="en-US" sz="1050" dirty="0"/>
          </a:p>
        </p:txBody>
      </p:sp>
      <p:sp>
        <p:nvSpPr>
          <p:cNvPr id="50" name="Text 40"/>
          <p:cNvSpPr/>
          <p:nvPr/>
        </p:nvSpPr>
        <p:spPr>
          <a:xfrm>
            <a:off x="7182612" y="47457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· EVERY QUESTION</a:t>
            </a:r>
            <a:endParaRPr lang="en-US" sz="1050" dirty="0"/>
          </a:p>
        </p:txBody>
      </p:sp>
      <p:sp>
        <p:nvSpPr>
          <p:cNvPr id="51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PolicyGenie — Policy &amp; Claims Copilot</a:t>
            </a:r>
            <a:endParaRPr lang="en-US" sz="1000" dirty="0"/>
          </a:p>
        </p:txBody>
      </p:sp>
      <p:sp>
        <p:nvSpPr>
          <p:cNvPr id="52" name="Text 42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INGEST &amp; CHUNK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a PDF into clean, tagged chunks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work/icons/p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1753088"/>
            <a:ext cx="389169" cy="3891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page-by-page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0208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keeps the page number as metadata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346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work/icons/head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8" y="2896088"/>
            <a:ext cx="389169" cy="3891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headings heuristically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31638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ALL-CAPS / Title-Case lines → section name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9776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work/icons/c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88" y="4039088"/>
            <a:ext cx="389169" cy="3891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with overlap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430682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NLTK groups sentences to ~500 chars, 2-sentence overlap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040880" y="192024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 w="12700">
            <a:solidFill>
              <a:srgbClr val="D8E6E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040880" y="19202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790688" y="192024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 w="12700">
            <a:solidFill>
              <a:srgbClr val="D8E6ED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790688" y="19202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540496" y="192024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 w="12700">
            <a:solidFill>
              <a:srgbClr val="D8E6E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540496" y="19202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290304" y="192024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 w="12700">
            <a:solidFill>
              <a:srgbClr val="D8E6E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9290304" y="19202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10040112" y="192024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 w="12700">
            <a:solidFill>
              <a:srgbClr val="D8E6ED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040112" y="19202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10789920" y="1920240"/>
            <a:ext cx="658368" cy="502920"/>
          </a:xfrm>
          <a:prstGeom prst="roundRect">
            <a:avLst>
              <a:gd name="adj" fmla="val 10909"/>
            </a:avLst>
          </a:prstGeom>
          <a:solidFill>
            <a:srgbClr val="EAF3F7"/>
          </a:solidFill>
          <a:ln w="12700">
            <a:solidFill>
              <a:srgbClr val="D8E6ED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789920" y="1920240"/>
            <a:ext cx="658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6986016" y="2587752"/>
            <a:ext cx="2267712" cy="402336"/>
          </a:xfrm>
          <a:prstGeom prst="roundRect">
            <a:avLst>
              <a:gd name="adj" fmla="val 18182"/>
            </a:avLst>
          </a:prstGeom>
          <a:solidFill>
            <a:srgbClr val="1C7293">
              <a:alpha val="18000"/>
            </a:srgbClr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7040880" y="2587752"/>
            <a:ext cx="2157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485632" y="3090672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F2A65A">
              <a:alpha val="18000"/>
            </a:srgbClr>
          </a:solidFill>
          <a:ln w="15875">
            <a:solidFill>
              <a:srgbClr val="F2A65A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540496" y="3090672"/>
            <a:ext cx="29077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C62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 · overlaps S3, S4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040880" y="3776472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EAF3F7"/>
          </a:solidFill>
          <a:ln/>
        </p:spPr>
      </p:sp>
      <p:sp>
        <p:nvSpPr>
          <p:cNvPr id="33" name="Text 28"/>
          <p:cNvSpPr/>
          <p:nvPr/>
        </p:nvSpPr>
        <p:spPr>
          <a:xfrm>
            <a:off x="7223760" y="3776472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chars / chunk · 2-sentence overlap · page + section kept on every chunk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PolicyGenie — Policy &amp; Claims Copilot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EMBED &amp; STORE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text into searchable vectors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EAF3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7452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work/icons/ve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322" y="1938162"/>
            <a:ext cx="403068" cy="4030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9019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 embedding provider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269748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6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28163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(free)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3154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sentence-transformers/all-MiniLM-L6-v2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" y="3840480"/>
            <a:ext cx="475488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E6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39593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(paid, cheap)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97280" y="42976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— higher quality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5074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config switch — flip providers without touching the rest of the pipeline.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217920" y="160020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0A2A40"/>
          </a:solidFill>
          <a:ln/>
        </p:spPr>
      </p:sp>
      <p:sp>
        <p:nvSpPr>
          <p:cNvPr id="16" name="Shape 13"/>
          <p:cNvSpPr/>
          <p:nvPr/>
        </p:nvSpPr>
        <p:spPr>
          <a:xfrm>
            <a:off x="6537960" y="1874520"/>
            <a:ext cx="530352" cy="530352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7" name="Image 1" descr="/home/claude/work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602" y="1938162"/>
            <a:ext cx="403068" cy="4030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05472" y="19019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ChromaDB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537960" y="2697480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12456A"/>
          </a:solidFill>
          <a:ln/>
        </p:spPr>
      </p:sp>
      <p:sp>
        <p:nvSpPr>
          <p:cNvPr id="20" name="Text 16"/>
          <p:cNvSpPr/>
          <p:nvPr/>
        </p:nvSpPr>
        <p:spPr>
          <a:xfrm>
            <a:off x="6537960" y="2697480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ids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909560" y="26974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 per chunk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537960" y="3264408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12456A"/>
          </a:solidFill>
          <a:ln/>
        </p:spPr>
      </p:sp>
      <p:sp>
        <p:nvSpPr>
          <p:cNvPr id="23" name="Text 19"/>
          <p:cNvSpPr/>
          <p:nvPr/>
        </p:nvSpPr>
        <p:spPr>
          <a:xfrm>
            <a:off x="6537960" y="326440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7909560" y="326440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 vector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6537960" y="3831336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12456A"/>
          </a:solidFill>
          <a:ln/>
        </p:spPr>
      </p:sp>
      <p:sp>
        <p:nvSpPr>
          <p:cNvPr id="26" name="Text 22"/>
          <p:cNvSpPr/>
          <p:nvPr/>
        </p:nvSpPr>
        <p:spPr>
          <a:xfrm>
            <a:off x="6537960" y="383133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documents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7909560" y="383133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chunk text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6537960" y="4398264"/>
            <a:ext cx="1234440" cy="402336"/>
          </a:xfrm>
          <a:prstGeom prst="roundRect">
            <a:avLst>
              <a:gd name="adj" fmla="val 13636"/>
            </a:avLst>
          </a:prstGeom>
          <a:solidFill>
            <a:srgbClr val="12456A"/>
          </a:solidFill>
          <a:ln/>
        </p:spPr>
      </p:sp>
      <p:sp>
        <p:nvSpPr>
          <p:cNvPr id="29" name="Text 25"/>
          <p:cNvSpPr/>
          <p:nvPr/>
        </p:nvSpPr>
        <p:spPr>
          <a:xfrm>
            <a:off x="6537960" y="439826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A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metadatas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7909560" y="439826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page, section } for citation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537960" y="507492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hnsw:space = “cosine” — similarity search matches meaning, not exact words.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PolicyGenie — Policy &amp; Claims Copilot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RETRIEVE &amp; GENERATE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generation with Groq · Llama 3.3 70B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wor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88" y="1753088"/>
            <a:ext cx="389169" cy="3891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916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top-K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2020824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embedded, matched by cosine similarity — closest chunks return with section + page.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work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88" y="2941808"/>
            <a:ext cx="389169" cy="3891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880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context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34440" y="3209544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chunk is labeled “[Section, Page]” before being handed to the model.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406908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work/icons/robo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088" y="4130528"/>
            <a:ext cx="389169" cy="3891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2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with Groq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34440" y="4398264"/>
            <a:ext cx="5257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45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(free tier) answers only from that context, citing every claim.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903720" y="1600200"/>
            <a:ext cx="4754880" cy="4434840"/>
          </a:xfrm>
          <a:prstGeom prst="roundRect">
            <a:avLst>
              <a:gd name="adj" fmla="val 2474"/>
            </a:avLst>
          </a:prstGeom>
          <a:solidFill>
            <a:srgbClr val="0A2A40"/>
          </a:solidFill>
          <a:ln/>
        </p:spPr>
      </p:sp>
      <p:sp>
        <p:nvSpPr>
          <p:cNvPr id="17" name="Text 12"/>
          <p:cNvSpPr/>
          <p:nvPr/>
        </p:nvSpPr>
        <p:spPr>
          <a:xfrm>
            <a:off x="717804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contract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7178040" y="237744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3" descr="/home/claude/work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4126" y="2423526"/>
            <a:ext cx="291876" cy="2918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699248" y="237744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 using the provided context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7178040" y="2980944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/home/claude/work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4126" y="3027030"/>
            <a:ext cx="291876" cy="2918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699248" y="298094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not in the context, say so — never guess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7178040" y="358444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5" descr="/home/claude/work/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4126" y="3630534"/>
            <a:ext cx="291876" cy="29187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699248" y="35844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section + page for every claim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7178040" y="4279392"/>
            <a:ext cx="4160520" cy="502920"/>
          </a:xfrm>
          <a:prstGeom prst="roundRect">
            <a:avLst>
              <a:gd name="adj" fmla="val 18182"/>
            </a:avLst>
          </a:prstGeom>
          <a:solidFill>
            <a:srgbClr val="12456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178040" y="42793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(Source: Waiting Periods, p.12)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7178040" y="4965192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9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contract is what keeps PolicyGenie from hallucinating coverage details.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PolicyGenie — Policy &amp; Claims Copilot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819DBD-289E-54AD-502A-77785C30F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21314BF-6CD3-CE7D-5367-1DA18778E9A5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STACK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425BBD6-3DE9-8D87-0B47-22D6A6C89BD3}"/>
              </a:ext>
            </a:extLst>
          </p:cNvPr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Simple RAG App — Health Insurance Policy Assistant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773F970-C33D-D67D-2C1F-5FB24F6D27E9}"/>
              </a:ext>
            </a:extLst>
          </p:cNvPr>
          <p:cNvSpPr/>
          <p:nvPr/>
        </p:nvSpPr>
        <p:spPr>
          <a:xfrm>
            <a:off x="0" y="656391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96E456-F10E-4DD8-DB9A-D780ABFE64E6}"/>
              </a:ext>
            </a:extLst>
          </p:cNvPr>
          <p:cNvSpPr txBox="1"/>
          <p:nvPr/>
        </p:nvSpPr>
        <p:spPr>
          <a:xfrm>
            <a:off x="705360" y="1746422"/>
            <a:ext cx="9979116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 friendly Retrieval-Augmented Generation (RAG) pipeline. </a:t>
            </a:r>
            <a:endParaRPr lang="en-IN" dirty="0"/>
          </a:p>
          <a:p>
            <a:r>
              <a:rPr lang="en-IN" b="1" dirty="0"/>
              <a:t>Pipeline:</a:t>
            </a:r>
          </a:p>
          <a:p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Read a PDF (</a:t>
            </a:r>
            <a:r>
              <a:rPr lang="en-IN" sz="1600" dirty="0" err="1"/>
              <a:t>pypdf</a:t>
            </a:r>
            <a:r>
              <a:rPr lang="en-IN" sz="1600" dirty="0"/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Semantic-</a:t>
            </a:r>
            <a:r>
              <a:rPr lang="en-IN" sz="1600" dirty="0" err="1"/>
              <a:t>ish</a:t>
            </a:r>
            <a:r>
              <a:rPr lang="en-IN" sz="1600" dirty="0"/>
              <a:t> chunking using </a:t>
            </a:r>
            <a:r>
              <a:rPr lang="en-IN" sz="1600" dirty="0" err="1"/>
              <a:t>nltk</a:t>
            </a:r>
            <a:r>
              <a:rPr lang="en-IN" sz="1600" dirty="0"/>
              <a:t> (group sentences into chunks)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Create embeddings — choose either the free </a:t>
            </a:r>
            <a:r>
              <a:rPr lang="en-IN" sz="1600" b="1" dirty="0"/>
              <a:t>Hugging Face Inference API</a:t>
            </a:r>
            <a:r>
              <a:rPr lang="en-IN" sz="1600" dirty="0"/>
              <a:t> (sentence-transformers/all-MiniLM-L6-v2) or </a:t>
            </a:r>
            <a:r>
              <a:rPr lang="en-IN" sz="1600" b="1" dirty="0"/>
              <a:t>OpenAI</a:t>
            </a:r>
            <a:r>
              <a:rPr lang="en-IN" sz="1600" dirty="0"/>
              <a:t> (text-embedding-3-small, paid)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Store chunks + embeddings + metadata in </a:t>
            </a:r>
            <a:r>
              <a:rPr lang="en-IN" sz="1600" b="1" dirty="0" err="1"/>
              <a:t>ChromaDB</a:t>
            </a:r>
            <a:r>
              <a:rPr lang="en-IN" sz="1600" dirty="0"/>
              <a:t> (local, persistent)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Retrieve Top-K similar chunks using </a:t>
            </a:r>
            <a:r>
              <a:rPr lang="en-IN" sz="1600" b="1" dirty="0"/>
              <a:t>cosine similarity</a:t>
            </a:r>
            <a:endParaRPr lang="en-IN" sz="1600" dirty="0"/>
          </a:p>
          <a:p>
            <a:pPr marL="342900" indent="-342900">
              <a:buFont typeface="+mj-lt"/>
              <a:buAutoNum type="arabicPeriod"/>
            </a:pPr>
            <a:r>
              <a:rPr lang="en-IN" sz="1600" dirty="0"/>
              <a:t>Generate an answer using </a:t>
            </a:r>
            <a:r>
              <a:rPr lang="en-IN" sz="1600" b="1" dirty="0" err="1"/>
              <a:t>Groq</a:t>
            </a:r>
            <a:r>
              <a:rPr lang="en-IN" sz="1600" b="1" dirty="0"/>
              <a:t> — Llama 3.3 70B Versatile</a:t>
            </a:r>
            <a:r>
              <a:rPr lang="en-IN" sz="1600" dirty="0"/>
              <a:t> (free tier)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r>
              <a:rPr lang="en-IN" sz="1600" b="1" i="1" dirty="0"/>
              <a:t>Note:</a:t>
            </a:r>
            <a:r>
              <a:rPr lang="en-IN" sz="1600" i="1" dirty="0"/>
              <a:t> </a:t>
            </a:r>
            <a:r>
              <a:rPr lang="en-IN" sz="1600" i="1" dirty="0" err="1"/>
              <a:t>Groq</a:t>
            </a:r>
            <a:r>
              <a:rPr lang="en-IN" sz="1600" i="1" dirty="0"/>
              <a:t> does not provide embedding models — it's an LLM inference API only. So embeddings come from Hugging Face (free) or OpenAI (paid, your choice — see Step 1), and </a:t>
            </a:r>
            <a:r>
              <a:rPr lang="en-IN" sz="1600" i="1" dirty="0" err="1"/>
              <a:t>Groq</a:t>
            </a:r>
            <a:r>
              <a:rPr lang="en-IN" sz="1600" i="1" dirty="0"/>
              <a:t> is used purely for the final answer generation.</a:t>
            </a:r>
          </a:p>
          <a:p>
            <a:endParaRPr lang="en-IN" dirty="0"/>
          </a:p>
        </p:txBody>
      </p:sp>
      <p:sp>
        <p:nvSpPr>
          <p:cNvPr id="6" name="Text 22">
            <a:extLst>
              <a:ext uri="{FF2B5EF4-FFF2-40B4-BE49-F238E27FC236}">
                <a16:creationId xmlns:a16="http://schemas.microsoft.com/office/drawing/2014/main" id="{0173797B-8615-3630-9E49-66D94F695578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PolicyGenie — Policy &amp; Claims Copilot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584071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C5352-CB32-F0AA-AD54-7319CE602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B34F8C-D6C0-5848-C924-73CE0BF28728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STACK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FD46D7-766E-5B85-29B4-F717006A3671}"/>
              </a:ext>
            </a:extLst>
          </p:cNvPr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Environment Setup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67839E6-47A6-4AA1-5B9B-118368970298}"/>
              </a:ext>
            </a:extLst>
          </p:cNvPr>
          <p:cNvSpPr/>
          <p:nvPr/>
        </p:nvSpPr>
        <p:spPr>
          <a:xfrm>
            <a:off x="0" y="656391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endParaRPr lang="en-US" sz="11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B84BA581-A400-E098-19C7-4CDB7B27C5B3}"/>
              </a:ext>
            </a:extLst>
          </p:cNvPr>
          <p:cNvSpPr/>
          <p:nvPr/>
        </p:nvSpPr>
        <p:spPr>
          <a:xfrm>
            <a:off x="5157216" y="6155727"/>
            <a:ext cx="1865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84268200-8C68-B355-DA7F-BF971C5B8F39}"/>
              </a:ext>
            </a:extLst>
          </p:cNvPr>
          <p:cNvSpPr/>
          <p:nvPr/>
        </p:nvSpPr>
        <p:spPr>
          <a:xfrm>
            <a:off x="9954038" y="6372096"/>
            <a:ext cx="1916743" cy="321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30" name="Text 23">
            <a:extLst>
              <a:ext uri="{FF2B5EF4-FFF2-40B4-BE49-F238E27FC236}">
                <a16:creationId xmlns:a16="http://schemas.microsoft.com/office/drawing/2014/main" id="{5784B250-C354-94F6-8C0E-54DAD17A556A}"/>
              </a:ext>
            </a:extLst>
          </p:cNvPr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B90D05-DFFB-5DFE-0D61-CB61725658FA}"/>
              </a:ext>
            </a:extLst>
          </p:cNvPr>
          <p:cNvSpPr txBox="1"/>
          <p:nvPr/>
        </p:nvSpPr>
        <p:spPr>
          <a:xfrm>
            <a:off x="548640" y="1307929"/>
            <a:ext cx="1053949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Step 1 -  Install Packages</a:t>
            </a:r>
          </a:p>
          <a:p>
            <a:r>
              <a:rPr lang="en-IN" sz="1400" dirty="0"/>
              <a:t>!pip -q install </a:t>
            </a:r>
            <a:r>
              <a:rPr lang="en-IN" sz="1400" dirty="0" err="1"/>
              <a:t>chromadb</a:t>
            </a:r>
            <a:r>
              <a:rPr lang="en-IN" sz="1400" dirty="0"/>
              <a:t> </a:t>
            </a:r>
            <a:r>
              <a:rPr lang="en-IN" sz="1400" dirty="0" err="1"/>
              <a:t>groq</a:t>
            </a:r>
            <a:r>
              <a:rPr lang="en-IN" sz="1400" dirty="0"/>
              <a:t> </a:t>
            </a:r>
            <a:r>
              <a:rPr lang="en-IN" sz="1400" dirty="0" err="1"/>
              <a:t>pypdf</a:t>
            </a:r>
            <a:r>
              <a:rPr lang="en-IN" sz="1400" dirty="0"/>
              <a:t> </a:t>
            </a:r>
            <a:r>
              <a:rPr lang="en-IN" sz="1400" dirty="0" err="1"/>
              <a:t>nltk</a:t>
            </a:r>
            <a:r>
              <a:rPr lang="en-IN" sz="1400" dirty="0"/>
              <a:t> requests</a:t>
            </a:r>
          </a:p>
          <a:p>
            <a:r>
              <a:rPr lang="en-IN" sz="1400" dirty="0" err="1"/>
              <a:t>nltk.download</a:t>
            </a:r>
            <a:r>
              <a:rPr lang="en-IN" sz="1400" dirty="0"/>
              <a:t>("</a:t>
            </a:r>
            <a:r>
              <a:rPr lang="en-IN" sz="1400" dirty="0" err="1"/>
              <a:t>punkt</a:t>
            </a:r>
            <a:r>
              <a:rPr lang="en-IN" sz="1400" dirty="0"/>
              <a:t>", quiet=True)</a:t>
            </a:r>
          </a:p>
          <a:p>
            <a:r>
              <a:rPr lang="en-IN" sz="1400" dirty="0" err="1"/>
              <a:t>nltk.download</a:t>
            </a:r>
            <a:r>
              <a:rPr lang="en-IN" sz="1400" dirty="0"/>
              <a:t>("</a:t>
            </a:r>
            <a:r>
              <a:rPr lang="en-IN" sz="1400" dirty="0" err="1"/>
              <a:t>punkt_tab</a:t>
            </a:r>
            <a:r>
              <a:rPr lang="en-IN" sz="1400" dirty="0"/>
              <a:t>", quiet=True)</a:t>
            </a:r>
          </a:p>
          <a:p>
            <a:endParaRPr lang="en-IN" sz="1400" dirty="0"/>
          </a:p>
          <a:p>
            <a:r>
              <a:rPr lang="en-IN" sz="2000" b="1" dirty="0"/>
              <a:t>Step 2 -  Imports and Configuration</a:t>
            </a:r>
          </a:p>
          <a:p>
            <a:r>
              <a:rPr lang="en-IN" sz="1400" dirty="0"/>
              <a:t>import </a:t>
            </a:r>
            <a:r>
              <a:rPr lang="en-IN" sz="1400" dirty="0" err="1"/>
              <a:t>os</a:t>
            </a:r>
            <a:endParaRPr lang="en-IN" sz="1400" dirty="0"/>
          </a:p>
          <a:p>
            <a:r>
              <a:rPr lang="en-IN" sz="1400" dirty="0"/>
              <a:t>import re</a:t>
            </a:r>
            <a:endParaRPr lang="en-IN" sz="1200" dirty="0"/>
          </a:p>
          <a:p>
            <a:r>
              <a:rPr lang="en-IN" sz="1200" dirty="0"/>
              <a:t>import requests</a:t>
            </a:r>
          </a:p>
          <a:p>
            <a:r>
              <a:rPr lang="en-IN" sz="1200" dirty="0"/>
              <a:t>import </a:t>
            </a:r>
            <a:r>
              <a:rPr lang="en-IN" sz="1200" dirty="0" err="1"/>
              <a:t>nltk</a:t>
            </a:r>
            <a:endParaRPr lang="en-IN" sz="1200" dirty="0"/>
          </a:p>
          <a:p>
            <a:r>
              <a:rPr lang="en-IN" sz="1200" dirty="0"/>
              <a:t>import </a:t>
            </a:r>
            <a:r>
              <a:rPr lang="en-IN" sz="1200" dirty="0" err="1"/>
              <a:t>chromadb</a:t>
            </a:r>
            <a:endParaRPr lang="en-IN" sz="1200" dirty="0"/>
          </a:p>
          <a:p>
            <a:r>
              <a:rPr lang="en-IN" sz="1200" dirty="0"/>
              <a:t>from </a:t>
            </a:r>
            <a:r>
              <a:rPr lang="en-IN" sz="1200" dirty="0" err="1"/>
              <a:t>pypdf</a:t>
            </a:r>
            <a:r>
              <a:rPr lang="en-IN" sz="1200" dirty="0"/>
              <a:t> import </a:t>
            </a:r>
            <a:r>
              <a:rPr lang="en-IN" sz="1200" dirty="0" err="1"/>
              <a:t>PdfReader</a:t>
            </a:r>
            <a:endParaRPr lang="en-IN" sz="1200" dirty="0"/>
          </a:p>
          <a:p>
            <a:r>
              <a:rPr lang="en-IN" sz="1200" dirty="0"/>
              <a:t>from </a:t>
            </a:r>
            <a:r>
              <a:rPr lang="en-IN" sz="1200" dirty="0" err="1"/>
              <a:t>groq</a:t>
            </a:r>
            <a:r>
              <a:rPr lang="en-IN" sz="1200" dirty="0"/>
              <a:t> import </a:t>
            </a:r>
            <a:r>
              <a:rPr lang="en-IN" sz="1200" dirty="0" err="1"/>
              <a:t>Groq</a:t>
            </a:r>
            <a:endParaRPr lang="en-IN" sz="1200" dirty="0"/>
          </a:p>
          <a:p>
            <a:r>
              <a:rPr lang="en-IN" sz="1200" dirty="0" err="1"/>
              <a:t>nltk.download</a:t>
            </a:r>
            <a:r>
              <a:rPr lang="en-IN" sz="1200" dirty="0"/>
              <a:t>("</a:t>
            </a:r>
            <a:r>
              <a:rPr lang="en-IN" sz="1200" dirty="0" err="1"/>
              <a:t>punkt</a:t>
            </a:r>
            <a:r>
              <a:rPr lang="en-IN" sz="1200" dirty="0"/>
              <a:t>")</a:t>
            </a:r>
          </a:p>
          <a:p>
            <a:r>
              <a:rPr lang="en-IN" sz="1200" dirty="0" err="1"/>
              <a:t>nltk.download</a:t>
            </a:r>
            <a:r>
              <a:rPr lang="en-IN" sz="1200" dirty="0"/>
              <a:t>("</a:t>
            </a:r>
            <a:r>
              <a:rPr lang="en-IN" sz="1200" dirty="0" err="1"/>
              <a:t>punkt_tab</a:t>
            </a:r>
            <a:r>
              <a:rPr lang="en-IN" sz="1200" dirty="0"/>
              <a:t>")</a:t>
            </a:r>
          </a:p>
          <a:p>
            <a:endParaRPr lang="en-IN" sz="1200" dirty="0"/>
          </a:p>
          <a:p>
            <a:r>
              <a:rPr lang="en-IN" sz="1200" dirty="0"/>
              <a:t># ---- PASTE KEYS HERE (or set as environment variables) ----</a:t>
            </a:r>
          </a:p>
          <a:p>
            <a:r>
              <a:rPr lang="en-IN" sz="1200" dirty="0"/>
              <a:t>from </a:t>
            </a:r>
            <a:r>
              <a:rPr lang="en-IN" sz="1200" dirty="0" err="1"/>
              <a:t>google.colab</a:t>
            </a:r>
            <a:r>
              <a:rPr lang="en-IN" sz="1200" dirty="0"/>
              <a:t> import </a:t>
            </a:r>
            <a:r>
              <a:rPr lang="en-IN" sz="1200" dirty="0" err="1"/>
              <a:t>userdata</a:t>
            </a:r>
            <a:endParaRPr lang="en-IN" sz="1200" dirty="0"/>
          </a:p>
          <a:p>
            <a:r>
              <a:rPr lang="en-IN" sz="1200" dirty="0" err="1"/>
              <a:t>os.environ</a:t>
            </a:r>
            <a:r>
              <a:rPr lang="en-IN" sz="1200" dirty="0"/>
              <a:t>["HF_TOKEN"] = </a:t>
            </a:r>
            <a:r>
              <a:rPr lang="en-IN" sz="1200" dirty="0" err="1"/>
              <a:t>userdata.get</a:t>
            </a:r>
            <a:r>
              <a:rPr lang="en-IN" sz="1200" dirty="0"/>
              <a:t>('HF_TOKEN')</a:t>
            </a:r>
          </a:p>
          <a:p>
            <a:r>
              <a:rPr lang="en-IN" sz="1200" dirty="0" err="1"/>
              <a:t>os.environ</a:t>
            </a:r>
            <a:r>
              <a:rPr lang="en-IN" sz="1200" dirty="0"/>
              <a:t>["GROQ_API_KEY"] = </a:t>
            </a:r>
            <a:r>
              <a:rPr lang="en-IN" sz="1200" dirty="0" err="1"/>
              <a:t>userdata.get</a:t>
            </a:r>
            <a:r>
              <a:rPr lang="en-IN" sz="1200" dirty="0"/>
              <a:t>('GROQ_API_KEY')</a:t>
            </a:r>
          </a:p>
          <a:p>
            <a:r>
              <a:rPr lang="en-IN" sz="1200" dirty="0" err="1"/>
              <a:t>os.environ</a:t>
            </a:r>
            <a:r>
              <a:rPr lang="en-IN" sz="1200" dirty="0"/>
              <a:t>["OPENAI_API_KEY"] = </a:t>
            </a:r>
            <a:r>
              <a:rPr lang="en-IN" sz="1200" dirty="0" err="1"/>
              <a:t>userdata.get</a:t>
            </a:r>
            <a:r>
              <a:rPr lang="en-IN" sz="1200" dirty="0"/>
              <a:t>('OPENAI_API_KEY')   # only needed if EMBEDDING_PROVIDER = "</a:t>
            </a:r>
            <a:r>
              <a:rPr lang="en-IN" sz="1200" dirty="0" err="1"/>
              <a:t>openai</a:t>
            </a:r>
            <a:r>
              <a:rPr lang="en-IN" sz="1200" dirty="0"/>
              <a:t>"</a:t>
            </a:r>
          </a:p>
          <a:p>
            <a:r>
              <a:rPr lang="en-IN" sz="1200" dirty="0"/>
              <a:t>HF_TOKEN = </a:t>
            </a:r>
            <a:r>
              <a:rPr lang="en-IN" sz="1200" dirty="0" err="1"/>
              <a:t>os.environ</a:t>
            </a:r>
            <a:r>
              <a:rPr lang="en-IN" sz="1200" dirty="0"/>
              <a:t>["HF_TOKEN"]</a:t>
            </a:r>
          </a:p>
          <a:p>
            <a:r>
              <a:rPr lang="en-IN" sz="1200" dirty="0"/>
              <a:t>GROQ_API_KEY = </a:t>
            </a:r>
            <a:r>
              <a:rPr lang="en-IN" sz="1200" dirty="0" err="1"/>
              <a:t>os.environ</a:t>
            </a:r>
            <a:r>
              <a:rPr lang="en-IN" sz="1200" dirty="0"/>
              <a:t>["GROQ_API_KEY"]</a:t>
            </a:r>
          </a:p>
          <a:p>
            <a:r>
              <a:rPr lang="en-IN" sz="1200" dirty="0"/>
              <a:t>OPENAI_API_KEY = </a:t>
            </a:r>
            <a:r>
              <a:rPr lang="en-IN" sz="1200" dirty="0" err="1"/>
              <a:t>os.environ</a:t>
            </a:r>
            <a:r>
              <a:rPr lang="en-IN" sz="1200" dirty="0"/>
              <a:t>["OPENAI_API_KEY"]</a:t>
            </a:r>
          </a:p>
          <a:p>
            <a:endParaRPr lang="en-IN" sz="2000" b="1" dirty="0"/>
          </a:p>
        </p:txBody>
      </p:sp>
      <p:sp>
        <p:nvSpPr>
          <p:cNvPr id="5" name="Text 22">
            <a:extLst>
              <a:ext uri="{FF2B5EF4-FFF2-40B4-BE49-F238E27FC236}">
                <a16:creationId xmlns:a16="http://schemas.microsoft.com/office/drawing/2014/main" id="{D2120EC2-0E71-4628-D004-6DA0F4DA3FFA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PolicyGenie — Policy &amp; Claims Copilot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81963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3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2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 question, get a cited answer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806440" y="1874520"/>
            <a:ext cx="4617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waiting period for pre-existing diseases?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PolicyGenie — Policy &amp; Claims Copilot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A6A7DC5-B1BB-D3FD-D17C-3F074EF9B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00" y="1572768"/>
            <a:ext cx="11851200" cy="4747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3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2E2CE-79C9-397F-9161-4840AF30D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459ED1-84D5-0284-E22A-7C0004C87847}"/>
              </a:ext>
            </a:extLst>
          </p:cNvPr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EA30CD3B-E2A0-A072-BCDF-97F316513029}"/>
              </a:ext>
            </a:extLst>
          </p:cNvPr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PolicyGenie — Policy &amp; Claims Copilot</a:t>
            </a:r>
            <a:endParaRPr lang="en-US" sz="100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919F34C8-D020-BF14-6032-FFC5FCD16BC5}"/>
              </a:ext>
            </a:extLst>
          </p:cNvPr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279C367-C27E-35AD-3A40-A22588EAF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099" y="1259348"/>
            <a:ext cx="11549778" cy="433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973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645920"/>
            <a:ext cx="4754880" cy="4754880"/>
          </a:xfrm>
          <a:prstGeom prst="ellipse">
            <a:avLst/>
          </a:prstGeom>
          <a:solidFill>
            <a:srgbClr val="0B3D5C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PolicyGenie delivers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559052" y="169164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work/icons/c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278" y="1761866"/>
            <a:ext cx="444764" cy="4447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4231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grounded answers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7972" y="169164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/home/claude/work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8198" y="1761866"/>
            <a:ext cx="444764" cy="4447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4231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call-center load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136892" y="169164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work/icons/clip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7118" y="1761866"/>
            <a:ext cx="444764" cy="4447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126480" y="24231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First-time-right claims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9925812" y="1691640"/>
            <a:ext cx="585216" cy="58521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/home/claude/work/icons/bo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6038" y="1761866"/>
            <a:ext cx="444764" cy="44476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15400" y="24231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&amp; fast to iterate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548640" y="3657600"/>
            <a:ext cx="11064240" cy="0"/>
          </a:xfrm>
          <a:prstGeom prst="line">
            <a:avLst/>
          </a:prstGeom>
          <a:noFill/>
          <a:ln w="12700">
            <a:solidFill>
              <a:srgbClr val="1C4B66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48640" y="3977640"/>
            <a:ext cx="777240" cy="77724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20" name="Image 4" descr="/home/claude/work/icons/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909" y="4070909"/>
            <a:ext cx="590702" cy="59070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08760" y="39776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22" name="Text 15"/>
          <p:cNvSpPr/>
          <p:nvPr/>
        </p:nvSpPr>
        <p:spPr>
          <a:xfrm>
            <a:off x="54864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7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1629</Words>
  <Application>Microsoft Office PowerPoint</Application>
  <PresentationFormat>Widescreen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sejal ksheer sagar</cp:lastModifiedBy>
  <cp:revision>4</cp:revision>
  <dcterms:created xsi:type="dcterms:W3CDTF">2026-07-30T16:08:01Z</dcterms:created>
  <dcterms:modified xsi:type="dcterms:W3CDTF">2026-07-31T13:56:17Z</dcterms:modified>
</cp:coreProperties>
</file>